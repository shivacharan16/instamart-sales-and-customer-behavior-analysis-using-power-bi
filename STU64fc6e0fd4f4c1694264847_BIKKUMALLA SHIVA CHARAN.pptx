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9DE2"/>
    <a:srgbClr val="34A751"/>
    <a:srgbClr val="263570"/>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78" d="100"/>
          <a:sy n="78" d="100"/>
        </p:scale>
        <p:origin x="850" y="6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13-03-2026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jp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ivacharan16/Instamart-Sales-and-Customer-Behavior-Analysis-using-Power-BI" TargetMode="External"/><Relationship Id="rId2" Type="http://schemas.openxmlformats.org/officeDocument/2006/relationships/hyperlink" Target="https://drive.google.com/drive/folders/1qLn1iXit-ltkJVQMawddKArBo52GPKRF?usp=sharing"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224657"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639826" y="1272087"/>
            <a:ext cx="4492613" cy="2040685"/>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Instamart Sales and Customer Behavior Analysis using Power BI</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639826" y="3545229"/>
            <a:ext cx="4571271" cy="251342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BIKKUMALLA SHIVA CHARAN</a:t>
            </a:r>
          </a:p>
          <a:p>
            <a:pPr algn="l">
              <a:spcAft>
                <a:spcPts val="600"/>
              </a:spcAft>
            </a:pPr>
            <a:r>
              <a:rPr lang="en-US" sz="1600" b="1" cap="all" dirty="0"/>
              <a:t>College Name: </a:t>
            </a:r>
            <a:r>
              <a:rPr lang="en-US" sz="1600" dirty="0"/>
              <a:t>Vignana Bharathi Institute of Technology </a:t>
            </a:r>
          </a:p>
          <a:p>
            <a:pPr algn="l">
              <a:spcAft>
                <a:spcPts val="600"/>
              </a:spcAft>
            </a:pPr>
            <a:r>
              <a:rPr lang="en-US" sz="1600" b="1" cap="all" dirty="0"/>
              <a:t>Department: CSE (ai &amp; ML)</a:t>
            </a:r>
          </a:p>
          <a:p>
            <a:pPr algn="l">
              <a:spcAft>
                <a:spcPts val="600"/>
              </a:spcAft>
            </a:pPr>
            <a:r>
              <a:rPr lang="en-US" sz="1600" b="1" cap="all" dirty="0"/>
              <a:t>Email ID: </a:t>
            </a:r>
            <a:r>
              <a:rPr lang="en-US" dirty="0"/>
              <a:t>b.shivacharan9963@gmail.com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94B8BB2E-2B0A-42FE-3666-1348AD2C9292}"/>
              </a:ext>
            </a:extLst>
          </p:cNvPr>
          <p:cNvPicPr>
            <a:picLocks noChangeAspect="1"/>
          </p:cNvPicPr>
          <p:nvPr/>
        </p:nvPicPr>
        <p:blipFill>
          <a:blip r:embed="rId6">
            <a:extLst>
              <a:ext uri="{28A0092B-C50C-407E-A947-70E740481C1C}">
                <a14:useLocalDpi xmlns:a14="http://schemas.microsoft.com/office/drawing/2010/main" val="0"/>
              </a:ext>
            </a:extLst>
          </a:blip>
          <a:srcRect l="17730" t="23943" r="16686" b="134"/>
          <a:stretch>
            <a:fillRect/>
          </a:stretch>
        </p:blipFill>
        <p:spPr>
          <a:xfrm>
            <a:off x="6365304" y="902449"/>
            <a:ext cx="4680155" cy="4992522"/>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1" y="1715071"/>
            <a:ext cx="11321385" cy="3614013"/>
          </a:xfrm>
        </p:spPr>
        <p:txBody>
          <a:bodyPr vert="horz" lIns="91440" tIns="45720" rIns="91440" bIns="45720" rtlCol="0">
            <a:normAutofit/>
          </a:bodyPr>
          <a:lstStyle/>
          <a:p>
            <a:pPr marL="0" indent="0">
              <a:buNone/>
            </a:pPr>
            <a:r>
              <a:rPr lang="en-IN" sz="2200" dirty="0">
                <a:latin typeface="Franklin Gothic Book"/>
              </a:rPr>
              <a:t>Example: </a:t>
            </a:r>
            <a:r>
              <a:rPr lang="en-US" sz="2400" dirty="0"/>
              <a:t>Instamart is an online grocery delivery platform that receives many customer orders every day across different product categories. Because of the large amount of order data, it becomes difficult for the company to manually understand customer purchasing patterns and product demand. This may lead to problems like poor inventory management and difficulty identifying popular products and peak order times. Therefore, a data-driven analysis system is needed to study the order data. In this project, a Power BI dashboard is created to analyze sales trends, customer behavior, and reorder patterns to help improve business decisions and customer experience.</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1078190" cy="5243978"/>
          </a:xfrm>
        </p:spPr>
        <p:txBody>
          <a:bodyPr vert="horz" lIns="91440" tIns="45720" rIns="91440" bIns="45720" rtlCol="0" anchor="t">
            <a:noAutofit/>
          </a:bodyPr>
          <a:lstStyle/>
          <a:p>
            <a:r>
              <a:rPr lang="en-US" sz="1600" dirty="0"/>
              <a:t>The proposed system focuses on analyzing Instamart grocery order data using </a:t>
            </a:r>
            <a:r>
              <a:rPr lang="en-US" sz="1600" b="1" dirty="0"/>
              <a:t>Power BI dashboards</a:t>
            </a:r>
            <a:r>
              <a:rPr lang="en-US" sz="1600" dirty="0"/>
              <a:t> to generate business insights.</a:t>
            </a:r>
          </a:p>
          <a:p>
            <a:r>
              <a:rPr lang="en-US" sz="1600" dirty="0"/>
              <a:t>The system performs the following steps: </a:t>
            </a:r>
            <a:r>
              <a:rPr lang="en-US" sz="1600" b="1" dirty="0"/>
              <a:t>Data Collection</a:t>
            </a:r>
          </a:p>
          <a:p>
            <a:r>
              <a:rPr lang="en-US" sz="1600" dirty="0"/>
              <a:t>The Instamart dataset contains historical grocery order information including: Order ID, Customer ID, Product Name, Department, Aisle, Order Day, Order Hour, Reorder Information</a:t>
            </a:r>
          </a:p>
          <a:p>
            <a:r>
              <a:rPr lang="en-US" sz="1600" b="1" dirty="0"/>
              <a:t>Data Preprocessing</a:t>
            </a:r>
          </a:p>
          <a:p>
            <a:r>
              <a:rPr lang="en-US" sz="1600" dirty="0"/>
              <a:t>Before visualization, the dataset is cleaned and prepared by: Removing duplicate records, Handling missing values, Correcting data types, Filtering required columns, Creating relationships between tables</a:t>
            </a:r>
          </a:p>
          <a:p>
            <a:r>
              <a:rPr lang="en-US" sz="1600" b="1" dirty="0"/>
              <a:t>Data Analysis</a:t>
            </a:r>
          </a:p>
          <a:p>
            <a:r>
              <a:rPr lang="en-US" sz="1600" dirty="0"/>
              <a:t>Using Power BI, various analytical measures and KPIs are created such as: Total Orders, Total Customers, Total Products Sold, Reorder Rate, Average Order Size</a:t>
            </a:r>
          </a:p>
          <a:p>
            <a:r>
              <a:rPr lang="en-US" sz="1600" b="1" dirty="0"/>
              <a:t>Data Visualization</a:t>
            </a:r>
          </a:p>
          <a:p>
            <a:r>
              <a:rPr lang="en-US" sz="1600" dirty="0"/>
              <a:t>Three interactive dashboard pages are created:</a:t>
            </a:r>
          </a:p>
          <a:p>
            <a:pPr marL="457200" lvl="1" indent="0">
              <a:buNone/>
            </a:pPr>
            <a:r>
              <a:rPr lang="en-US" sz="1600" b="1" dirty="0"/>
              <a:t>Sales and Order Overview</a:t>
            </a:r>
            <a:endParaRPr lang="en-US" sz="1600" dirty="0"/>
          </a:p>
          <a:p>
            <a:pPr marL="457200" lvl="1" indent="0">
              <a:buNone/>
            </a:pPr>
            <a:r>
              <a:rPr lang="en-US" sz="1600" b="1" dirty="0"/>
              <a:t>Product and Category Analysis</a:t>
            </a:r>
            <a:endParaRPr lang="en-US" sz="1600" dirty="0"/>
          </a:p>
          <a:p>
            <a:pPr marL="457200" lvl="1" indent="0">
              <a:buNone/>
            </a:pPr>
            <a:r>
              <a:rPr lang="en-US" sz="1600" b="1" dirty="0"/>
              <a:t>Customer Behavior and Reorder Analysis</a:t>
            </a:r>
            <a:endParaRPr lang="en-US" sz="1600" dirty="0"/>
          </a:p>
          <a:p>
            <a:r>
              <a:rPr lang="en-US" sz="1600" dirty="0"/>
              <a:t>These dashboards help businesses identify important patterns and trends.</a:t>
            </a:r>
          </a:p>
          <a:p>
            <a:pPr marL="305435" indent="-305435">
              <a:spcBef>
                <a:spcPct val="20000"/>
              </a:spcBef>
              <a:spcAft>
                <a:spcPts val="600"/>
              </a:spcAft>
              <a:buFont typeface="Arial"/>
              <a:buChar char="•"/>
            </a:pPr>
            <a:endParaRPr lang="en-GB" sz="16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287911" y="1303019"/>
            <a:ext cx="11658283" cy="5284593"/>
          </a:xfrm>
        </p:spPr>
        <p:txBody>
          <a:bodyPr vert="horz" lIns="91440" tIns="45720" rIns="91440" bIns="45720" rtlCol="0">
            <a:normAutofit fontScale="70000" lnSpcReduction="20000"/>
          </a:bodyPr>
          <a:lstStyle/>
          <a:p>
            <a:r>
              <a:rPr lang="en-US" sz="2400" dirty="0"/>
              <a:t>The system is developed using the following tools and technologies.</a:t>
            </a:r>
          </a:p>
          <a:p>
            <a:r>
              <a:rPr lang="en-US" sz="2400" b="1" dirty="0"/>
              <a:t>Dataset: </a:t>
            </a:r>
            <a:r>
              <a:rPr lang="en-US" sz="2400" dirty="0"/>
              <a:t>Instamart Online Grocery Basket Analysis Dataset</a:t>
            </a:r>
          </a:p>
          <a:p>
            <a:r>
              <a:rPr lang="en-US" sz="2400" dirty="0"/>
              <a:t>The dataset contains information about: Customer orders, Product details, Departments and aisles, Reorder patterns</a:t>
            </a:r>
          </a:p>
          <a:p>
            <a:r>
              <a:rPr lang="en-US" sz="2400" dirty="0"/>
              <a:t>A cleaned dataset with </a:t>
            </a:r>
            <a:r>
              <a:rPr lang="en-US" sz="2400" b="1" dirty="0"/>
              <a:t>500 rows</a:t>
            </a:r>
            <a:r>
              <a:rPr lang="en-US" sz="2400" dirty="0"/>
              <a:t> was used for this project.</a:t>
            </a:r>
          </a:p>
          <a:p>
            <a:r>
              <a:rPr lang="en-US" sz="2400" b="1" dirty="0"/>
              <a:t>Technology Used: Power BI Desktop</a:t>
            </a:r>
            <a:endParaRPr lang="en-US" sz="2400" dirty="0"/>
          </a:p>
          <a:p>
            <a:r>
              <a:rPr lang="en-US" sz="2400" dirty="0"/>
              <a:t>Power BI is used to: Import and clean the dataset, Create data relationships, Develop calculated measures using DAX, Build interactive dashboards</a:t>
            </a:r>
          </a:p>
          <a:p>
            <a:r>
              <a:rPr lang="en-US" sz="2400" b="1" dirty="0"/>
              <a:t>Data Modeling: </a:t>
            </a:r>
            <a:r>
              <a:rPr lang="en-US" sz="2400" dirty="0"/>
              <a:t>Relationships were created between dataset fields to enable proper analysis.</a:t>
            </a:r>
          </a:p>
          <a:p>
            <a:r>
              <a:rPr lang="en-US" sz="2400" dirty="0"/>
              <a:t>Key data columns include: order_id, User_id, Product_name, department, aisle, Order day, Order hour, reordered</a:t>
            </a:r>
          </a:p>
          <a:p>
            <a:r>
              <a:rPr lang="en-IN" sz="2400" b="1" dirty="0"/>
              <a:t>System Requirements:</a:t>
            </a:r>
          </a:p>
          <a:p>
            <a:pPr marL="457200" indent="-457200">
              <a:buFont typeface="+mj-lt"/>
              <a:buAutoNum type="arabicPeriod"/>
            </a:pPr>
            <a:r>
              <a:rPr lang="en-IN" sz="2400" b="1" dirty="0"/>
              <a:t>Power BI Desktop</a:t>
            </a:r>
            <a:r>
              <a:rPr lang="en-IN" sz="2400" dirty="0"/>
              <a:t> – Used to import the dataset, create data models, apply DAX calculations, and design interactive dashboards.</a:t>
            </a:r>
          </a:p>
          <a:p>
            <a:pPr marL="457200" indent="-457200">
              <a:buFont typeface="+mj-lt"/>
              <a:buAutoNum type="arabicPeriod"/>
            </a:pPr>
            <a:r>
              <a:rPr lang="en-IN" sz="2400" b="1" dirty="0"/>
              <a:t>Microsoft Excel / CSV Dataset</a:t>
            </a:r>
            <a:r>
              <a:rPr lang="en-IN" sz="2400" dirty="0"/>
              <a:t> – Used as the data source for storing and preparing the </a:t>
            </a:r>
            <a:r>
              <a:rPr lang="en-IN" sz="2400" dirty="0" err="1"/>
              <a:t>Instamart</a:t>
            </a:r>
            <a:r>
              <a:rPr lang="en-IN" sz="2400" dirty="0"/>
              <a:t> order dataset before importing into Power BI.</a:t>
            </a:r>
          </a:p>
          <a:p>
            <a:r>
              <a:rPr lang="en-US" sz="2400" b="1" dirty="0"/>
              <a:t>Library / Tools Required to Build the Model</a:t>
            </a:r>
          </a:p>
          <a:p>
            <a:pPr marL="457200" indent="-457200">
              <a:buFont typeface="+mj-lt"/>
              <a:buAutoNum type="arabicPeriod"/>
            </a:pPr>
            <a:r>
              <a:rPr lang="en-US" sz="2400" b="1" dirty="0"/>
              <a:t>Power Query Editor</a:t>
            </a:r>
            <a:r>
              <a:rPr lang="en-US" sz="2400" dirty="0"/>
              <a:t> – Used for data cleaning, transformation, and preprocessing of the dataset.</a:t>
            </a:r>
          </a:p>
          <a:p>
            <a:pPr marL="457200" indent="-457200">
              <a:buFont typeface="+mj-lt"/>
              <a:buAutoNum type="arabicPeriod"/>
            </a:pPr>
            <a:r>
              <a:rPr lang="en-US" sz="2400" b="1" dirty="0"/>
              <a:t>DAX (Data Analysis Expressions)</a:t>
            </a:r>
            <a:r>
              <a:rPr lang="en-US" sz="2400" dirty="0"/>
              <a:t> – Used to create calculated measures such as Total Orders, Reorder Rate, and Average Order Size for analysis.</a:t>
            </a:r>
          </a:p>
          <a:p>
            <a:pPr marL="0" indent="0">
              <a:buNone/>
            </a:pPr>
            <a:endParaRPr lang="en-IN" sz="2400" dirty="0"/>
          </a:p>
          <a:p>
            <a:endParaRPr lang="en-US" sz="24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47035" y="1303020"/>
            <a:ext cx="11256706" cy="5156774"/>
          </a:xfrm>
        </p:spPr>
        <p:txBody>
          <a:bodyPr vert="horz" lIns="91440" tIns="45720" rIns="91440" bIns="45720" rtlCol="0">
            <a:normAutofit lnSpcReduction="10000"/>
          </a:bodyPr>
          <a:lstStyle/>
          <a:p>
            <a:r>
              <a:rPr lang="en-US" sz="1600" dirty="0"/>
              <a:t>Since this project focuses on </a:t>
            </a:r>
            <a:r>
              <a:rPr lang="en-US" sz="1600" b="1" dirty="0"/>
              <a:t>data analytics rather than machine learning</a:t>
            </a:r>
            <a:r>
              <a:rPr lang="en-US" sz="1600" dirty="0"/>
              <a:t>, the approach involves </a:t>
            </a:r>
            <a:r>
              <a:rPr lang="en-US" sz="1600" b="1" dirty="0"/>
              <a:t>data modeling, DAX calculations, and dashboard visualization</a:t>
            </a:r>
            <a:r>
              <a:rPr lang="en-US" sz="1600" dirty="0"/>
              <a:t>.</a:t>
            </a:r>
          </a:p>
          <a:p>
            <a:r>
              <a:rPr lang="en-US" sz="1600" b="1" dirty="0"/>
              <a:t>Data Input</a:t>
            </a:r>
          </a:p>
          <a:p>
            <a:r>
              <a:rPr lang="en-US" sz="1600" dirty="0"/>
              <a:t>The dataset includes the following features: Order ID, Customer ID, Product Name, Department, Aisle, Order Day of Week, Order Hour of Day, Days Since Prior Order, Reordered Flag</a:t>
            </a:r>
          </a:p>
          <a:p>
            <a:r>
              <a:rPr lang="en-US" sz="1600" b="1" dirty="0"/>
              <a:t>Data Processing</a:t>
            </a:r>
          </a:p>
          <a:p>
            <a:r>
              <a:rPr lang="en-US" sz="1600" dirty="0"/>
              <a:t>The dataset was processed using the following steps: Data Cleaning, Data Modeling, Creation of Calculated Measures using DAX, Visualization using Power BI</a:t>
            </a:r>
          </a:p>
          <a:p>
            <a:r>
              <a:rPr lang="en-US" sz="1600" b="1" dirty="0"/>
              <a:t>Important DAX Measures</a:t>
            </a:r>
          </a:p>
          <a:p>
            <a:pPr marL="342900" indent="-342900">
              <a:buFont typeface="+mj-lt"/>
              <a:buAutoNum type="arabicPeriod"/>
            </a:pPr>
            <a:r>
              <a:rPr lang="en-US" sz="1600" dirty="0"/>
              <a:t>Total Orders = DISTINCTCOUNT(order_id)</a:t>
            </a:r>
          </a:p>
          <a:p>
            <a:pPr marL="342900" indent="-342900">
              <a:buFont typeface="+mj-lt"/>
              <a:buAutoNum type="arabicPeriod"/>
            </a:pPr>
            <a:r>
              <a:rPr lang="en-US" sz="1600" dirty="0"/>
              <a:t>Total Customers = DISTINCTCOUNT(user_id)</a:t>
            </a:r>
          </a:p>
          <a:p>
            <a:pPr marL="342900" indent="-342900">
              <a:buFont typeface="+mj-lt"/>
              <a:buAutoNum type="arabicPeriod"/>
            </a:pPr>
            <a:r>
              <a:rPr lang="en-US" sz="1600" dirty="0"/>
              <a:t>Total Products Sold = COUNT(product_id)</a:t>
            </a:r>
          </a:p>
          <a:p>
            <a:pPr marL="342900" indent="-342900">
              <a:buFont typeface="+mj-lt"/>
              <a:buAutoNum type="arabicPeriod"/>
            </a:pPr>
            <a:r>
              <a:rPr lang="en-US" sz="1600" dirty="0"/>
              <a:t>Reorder Rate = Reordered Products / Total Products Sold</a:t>
            </a:r>
          </a:p>
          <a:p>
            <a:pPr marL="342900" indent="-342900">
              <a:buFont typeface="+mj-lt"/>
              <a:buAutoNum type="arabicPeriod"/>
            </a:pPr>
            <a:r>
              <a:rPr lang="en-US" sz="1600" dirty="0"/>
              <a:t>Average Order Size = Total Products Sold / Total Orders</a:t>
            </a:r>
          </a:p>
          <a:p>
            <a:r>
              <a:rPr lang="en-US" sz="1600" b="1" dirty="0"/>
              <a:t>Deployment</a:t>
            </a:r>
          </a:p>
          <a:p>
            <a:r>
              <a:rPr lang="en-US" sz="1600" dirty="0"/>
              <a:t>The Power BI dashboard was developed using </a:t>
            </a:r>
            <a:r>
              <a:rPr lang="en-US" sz="1600" b="1" dirty="0"/>
              <a:t>Power BI Desktop</a:t>
            </a:r>
            <a:r>
              <a:rPr lang="en-US" sz="1600" dirty="0"/>
              <a:t> and can be shared through: Power BI Service, Exported Reports, Dashboard Screenshots</a:t>
            </a:r>
          </a:p>
          <a:p>
            <a:pPr marL="0" indent="0">
              <a:buNone/>
            </a:pPr>
            <a:endParaRPr lang="en-US" sz="1600" dirty="0"/>
          </a:p>
          <a:p>
            <a:pPr marL="305435" indent="-305435">
              <a:spcBef>
                <a:spcPct val="20000"/>
              </a:spcBef>
              <a:spcAft>
                <a:spcPts val="600"/>
              </a:spcAft>
              <a:buFont typeface="Arial"/>
              <a:buChar char="•"/>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 </a:t>
            </a:r>
            <a:r>
              <a:rPr lang="en-US" sz="4000" dirty="0"/>
              <a:t>Page 1 — Sales and Order Overview</a:t>
            </a:r>
          </a:p>
        </p:txBody>
      </p:sp>
      <p:pic>
        <p:nvPicPr>
          <p:cNvPr id="5" name="Picture 4">
            <a:extLst>
              <a:ext uri="{FF2B5EF4-FFF2-40B4-BE49-F238E27FC236}">
                <a16:creationId xmlns:a16="http://schemas.microsoft.com/office/drawing/2014/main" id="{5472603A-33E3-A82F-1636-23A72E66AE41}"/>
              </a:ext>
            </a:extLst>
          </p:cNvPr>
          <p:cNvPicPr>
            <a:picLocks noChangeAspect="1"/>
          </p:cNvPicPr>
          <p:nvPr/>
        </p:nvPicPr>
        <p:blipFill>
          <a:blip r:embed="rId2"/>
          <a:stretch>
            <a:fillRect/>
          </a:stretch>
        </p:blipFill>
        <p:spPr>
          <a:xfrm>
            <a:off x="255639" y="1140541"/>
            <a:ext cx="11749548" cy="5114209"/>
          </a:xfrm>
          <a:prstGeom prst="rect">
            <a:avLst/>
          </a:prstGeom>
        </p:spPr>
      </p:pic>
      <p:sp>
        <p:nvSpPr>
          <p:cNvPr id="6" name="TextBox 5">
            <a:extLst>
              <a:ext uri="{FF2B5EF4-FFF2-40B4-BE49-F238E27FC236}">
                <a16:creationId xmlns:a16="http://schemas.microsoft.com/office/drawing/2014/main" id="{688DC0A1-2D79-BED2-1B72-CAC69BB3B2DD}"/>
              </a:ext>
            </a:extLst>
          </p:cNvPr>
          <p:cNvSpPr txBox="1"/>
          <p:nvPr/>
        </p:nvSpPr>
        <p:spPr>
          <a:xfrm>
            <a:off x="806245" y="6295513"/>
            <a:ext cx="10923639" cy="369332"/>
          </a:xfrm>
          <a:prstGeom prst="rect">
            <a:avLst/>
          </a:prstGeom>
          <a:noFill/>
        </p:spPr>
        <p:txBody>
          <a:bodyPr wrap="square" rtlCol="0">
            <a:spAutoFit/>
          </a:bodyPr>
          <a:lstStyle/>
          <a:p>
            <a:r>
              <a:rPr lang="en-IN" b="1" dirty="0"/>
              <a:t>Visualizations created</a:t>
            </a:r>
            <a:r>
              <a:rPr lang="en-IN" dirty="0"/>
              <a:t>: </a:t>
            </a:r>
            <a:r>
              <a:rPr lang="en-US" dirty="0"/>
              <a:t>Identifies </a:t>
            </a:r>
            <a:r>
              <a:rPr lang="en-US" b="1" dirty="0"/>
              <a:t>peak order times and high-demand departments</a:t>
            </a:r>
            <a:r>
              <a:rPr lang="en-US" dirty="0"/>
              <a:t>.</a:t>
            </a:r>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476F90-19C6-457C-2F10-A5355C713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A610DF-304D-4C28-5C4F-D62CAFFE2F83}"/>
              </a:ext>
            </a:extLst>
          </p:cNvPr>
          <p:cNvSpPr>
            <a:spLocks noGrp="1"/>
          </p:cNvSpPr>
          <p:nvPr>
            <p:ph type="title"/>
          </p:nvPr>
        </p:nvSpPr>
        <p:spPr>
          <a:xfrm>
            <a:off x="-1" y="645755"/>
            <a:ext cx="11375923" cy="661936"/>
          </a:xfrm>
        </p:spPr>
        <p:txBody>
          <a:bodyPr lIns="91440" tIns="45720" rIns="91440" bIns="45720" anchor="t">
            <a:normAutofit/>
          </a:bodyPr>
          <a:lstStyle/>
          <a:p>
            <a:r>
              <a:rPr lang="en-US" sz="4000" b="1" cap="all" dirty="0">
                <a:latin typeface="Arial"/>
                <a:cs typeface="Arial"/>
              </a:rPr>
              <a:t>Result: </a:t>
            </a:r>
            <a:r>
              <a:rPr lang="en-US" sz="3200" dirty="0"/>
              <a:t>Page 2 — Product and Category Analysis</a:t>
            </a:r>
          </a:p>
        </p:txBody>
      </p:sp>
      <p:pic>
        <p:nvPicPr>
          <p:cNvPr id="6" name="Picture 5">
            <a:extLst>
              <a:ext uri="{FF2B5EF4-FFF2-40B4-BE49-F238E27FC236}">
                <a16:creationId xmlns:a16="http://schemas.microsoft.com/office/drawing/2014/main" id="{504F0643-9875-3843-5064-B0415485F622}"/>
              </a:ext>
            </a:extLst>
          </p:cNvPr>
          <p:cNvPicPr>
            <a:picLocks noChangeAspect="1"/>
          </p:cNvPicPr>
          <p:nvPr/>
        </p:nvPicPr>
        <p:blipFill>
          <a:blip r:embed="rId2"/>
          <a:stretch>
            <a:fillRect/>
          </a:stretch>
        </p:blipFill>
        <p:spPr>
          <a:xfrm>
            <a:off x="157316" y="1189702"/>
            <a:ext cx="11769213" cy="5022543"/>
          </a:xfrm>
          <a:prstGeom prst="rect">
            <a:avLst/>
          </a:prstGeom>
        </p:spPr>
      </p:pic>
      <p:sp>
        <p:nvSpPr>
          <p:cNvPr id="7" name="TextBox 6">
            <a:extLst>
              <a:ext uri="{FF2B5EF4-FFF2-40B4-BE49-F238E27FC236}">
                <a16:creationId xmlns:a16="http://schemas.microsoft.com/office/drawing/2014/main" id="{3A4A13E5-8EB7-690A-B27C-D45E2260C9D5}"/>
              </a:ext>
            </a:extLst>
          </p:cNvPr>
          <p:cNvSpPr txBox="1"/>
          <p:nvPr/>
        </p:nvSpPr>
        <p:spPr>
          <a:xfrm>
            <a:off x="806245" y="6295513"/>
            <a:ext cx="10923639" cy="369332"/>
          </a:xfrm>
          <a:prstGeom prst="rect">
            <a:avLst/>
          </a:prstGeom>
          <a:noFill/>
        </p:spPr>
        <p:txBody>
          <a:bodyPr wrap="square" rtlCol="0">
            <a:spAutoFit/>
          </a:bodyPr>
          <a:lstStyle/>
          <a:p>
            <a:r>
              <a:rPr lang="en-IN" b="1" dirty="0"/>
              <a:t>Visualizations created</a:t>
            </a:r>
            <a:r>
              <a:rPr lang="en-IN" dirty="0"/>
              <a:t>: </a:t>
            </a:r>
            <a:r>
              <a:rPr lang="en-US" dirty="0"/>
              <a:t>Helps identify </a:t>
            </a:r>
            <a:r>
              <a:rPr lang="en-US" b="1" dirty="0"/>
              <a:t>best-selling products and popular grocery categories</a:t>
            </a:r>
            <a:r>
              <a:rPr lang="en-US" dirty="0"/>
              <a:t>.</a:t>
            </a:r>
          </a:p>
        </p:txBody>
      </p:sp>
    </p:spTree>
    <p:extLst>
      <p:ext uri="{BB962C8B-B14F-4D97-AF65-F5344CB8AC3E}">
        <p14:creationId xmlns:p14="http://schemas.microsoft.com/office/powerpoint/2010/main" val="2358085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570A8C-E034-522D-CA75-309D0530F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82F78-253F-5866-1F27-F50F7412B4F8}"/>
              </a:ext>
            </a:extLst>
          </p:cNvPr>
          <p:cNvSpPr>
            <a:spLocks noGrp="1"/>
          </p:cNvSpPr>
          <p:nvPr>
            <p:ph type="title"/>
          </p:nvPr>
        </p:nvSpPr>
        <p:spPr>
          <a:xfrm>
            <a:off x="-1192" y="603251"/>
            <a:ext cx="11573759" cy="674944"/>
          </a:xfrm>
        </p:spPr>
        <p:txBody>
          <a:bodyPr lIns="91440" tIns="45720" rIns="91440" bIns="45720" anchor="t">
            <a:normAutofit/>
          </a:bodyPr>
          <a:lstStyle/>
          <a:p>
            <a:r>
              <a:rPr lang="en-US" sz="4000" b="1" cap="all" dirty="0">
                <a:latin typeface="Arial"/>
                <a:cs typeface="Arial"/>
              </a:rPr>
              <a:t>Result: </a:t>
            </a:r>
            <a:r>
              <a:rPr lang="en-US" sz="3200" dirty="0"/>
              <a:t>Page 3 — Customer Behavior and Reorder Analysis</a:t>
            </a:r>
          </a:p>
        </p:txBody>
      </p:sp>
      <p:pic>
        <p:nvPicPr>
          <p:cNvPr id="5" name="Picture 4">
            <a:extLst>
              <a:ext uri="{FF2B5EF4-FFF2-40B4-BE49-F238E27FC236}">
                <a16:creationId xmlns:a16="http://schemas.microsoft.com/office/drawing/2014/main" id="{9EF64EBA-E8EB-A0DF-0564-F837104D9142}"/>
              </a:ext>
            </a:extLst>
          </p:cNvPr>
          <p:cNvPicPr>
            <a:picLocks noChangeAspect="1"/>
          </p:cNvPicPr>
          <p:nvPr/>
        </p:nvPicPr>
        <p:blipFill>
          <a:blip r:embed="rId2"/>
          <a:stretch>
            <a:fillRect/>
          </a:stretch>
        </p:blipFill>
        <p:spPr>
          <a:xfrm>
            <a:off x="127820" y="1170039"/>
            <a:ext cx="11788878" cy="5084711"/>
          </a:xfrm>
          <a:prstGeom prst="rect">
            <a:avLst/>
          </a:prstGeom>
        </p:spPr>
      </p:pic>
      <p:sp>
        <p:nvSpPr>
          <p:cNvPr id="6" name="TextBox 5">
            <a:extLst>
              <a:ext uri="{FF2B5EF4-FFF2-40B4-BE49-F238E27FC236}">
                <a16:creationId xmlns:a16="http://schemas.microsoft.com/office/drawing/2014/main" id="{21D13CF9-0003-D362-63FC-13176A0E9C90}"/>
              </a:ext>
            </a:extLst>
          </p:cNvPr>
          <p:cNvSpPr txBox="1"/>
          <p:nvPr/>
        </p:nvSpPr>
        <p:spPr>
          <a:xfrm>
            <a:off x="806245" y="6295513"/>
            <a:ext cx="10923639" cy="369332"/>
          </a:xfrm>
          <a:prstGeom prst="rect">
            <a:avLst/>
          </a:prstGeom>
          <a:noFill/>
        </p:spPr>
        <p:txBody>
          <a:bodyPr wrap="square" rtlCol="0">
            <a:spAutoFit/>
          </a:bodyPr>
          <a:lstStyle/>
          <a:p>
            <a:r>
              <a:rPr lang="en-IN" b="1" dirty="0"/>
              <a:t>Visualizations created</a:t>
            </a:r>
            <a:r>
              <a:rPr lang="en-IN" dirty="0"/>
              <a:t>: </a:t>
            </a:r>
            <a:r>
              <a:rPr lang="en-US" dirty="0"/>
              <a:t>Analyzes </a:t>
            </a:r>
            <a:r>
              <a:rPr lang="en-US" b="1" dirty="0"/>
              <a:t>customer purchasing behavior and loyalty patterns</a:t>
            </a:r>
            <a:r>
              <a:rPr lang="en-US" dirty="0"/>
              <a:t>.</a:t>
            </a:r>
          </a:p>
        </p:txBody>
      </p:sp>
    </p:spTree>
    <p:extLst>
      <p:ext uri="{BB962C8B-B14F-4D97-AF65-F5344CB8AC3E}">
        <p14:creationId xmlns:p14="http://schemas.microsoft.com/office/powerpoint/2010/main" val="2764587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8" y="1307690"/>
            <a:ext cx="10857695" cy="5014452"/>
          </a:xfrm>
        </p:spPr>
        <p:txBody>
          <a:bodyPr vert="horz" lIns="91440" tIns="45720" rIns="91440" bIns="45720" rtlCol="0">
            <a:normAutofit fontScale="92500" lnSpcReduction="10000"/>
          </a:bodyPr>
          <a:lstStyle/>
          <a:p>
            <a:r>
              <a:rPr lang="en-US" sz="2400" dirty="0"/>
              <a:t>This project successfully developed a </a:t>
            </a:r>
            <a:r>
              <a:rPr lang="en-US" sz="2400" b="1" dirty="0"/>
              <a:t>Power BI dashboard to analyze Instamart grocery order data</a:t>
            </a:r>
            <a:r>
              <a:rPr lang="en-US" sz="2400" dirty="0"/>
              <a:t>.</a:t>
            </a:r>
          </a:p>
          <a:p>
            <a:r>
              <a:rPr lang="en-US" sz="2400" dirty="0"/>
              <a:t>The dashboard provides important insights such as:</a:t>
            </a:r>
          </a:p>
          <a:p>
            <a:r>
              <a:rPr lang="en-US" sz="2400" dirty="0"/>
              <a:t>Peak order times during the day</a:t>
            </a:r>
          </a:p>
          <a:p>
            <a:r>
              <a:rPr lang="en-US" sz="2400" dirty="0"/>
              <a:t>Most popular grocery departments</a:t>
            </a:r>
          </a:p>
          <a:p>
            <a:r>
              <a:rPr lang="en-US" sz="2400" dirty="0"/>
              <a:t>Best-selling products</a:t>
            </a:r>
          </a:p>
          <a:p>
            <a:r>
              <a:rPr lang="en-US" sz="2400" dirty="0"/>
              <a:t>Customer reorder behavior</a:t>
            </a:r>
          </a:p>
          <a:p>
            <a:r>
              <a:rPr lang="en-US" sz="2400" dirty="0"/>
              <a:t>Customer purchase frequency</a:t>
            </a:r>
          </a:p>
          <a:p>
            <a:r>
              <a:rPr lang="en-US" sz="2400" dirty="0"/>
              <a:t>By using interactive visualizations and DAX calculations, the system helps businesses make </a:t>
            </a:r>
            <a:r>
              <a:rPr lang="en-US" sz="2400" b="1" dirty="0"/>
              <a:t>data-driven decisions related to inventory planning, marketing strategies, and customer experience improvement</a:t>
            </a:r>
            <a:r>
              <a:rPr lang="en-US" sz="2400" dirty="0"/>
              <a:t>.</a:t>
            </a:r>
          </a:p>
          <a:p>
            <a:r>
              <a:rPr lang="en-US" sz="2400" dirty="0"/>
              <a:t>Overall, the Power BI dashboard improves the ability to analyze large datasets and transform raw data into meaningful insights.</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0" y="1304434"/>
            <a:ext cx="10783387" cy="5037372"/>
          </a:xfrm>
        </p:spPr>
        <p:txBody>
          <a:bodyPr vert="horz" lIns="91440" tIns="45720" rIns="91440" bIns="45720" rtlCol="0">
            <a:normAutofit/>
          </a:bodyPr>
          <a:lstStyle/>
          <a:p>
            <a:r>
              <a:rPr lang="en-US" sz="2400" dirty="0"/>
              <a:t>The project can be further enhanced by implementing the following improvements:</a:t>
            </a:r>
          </a:p>
          <a:p>
            <a:r>
              <a:rPr lang="en-US" sz="2400" dirty="0"/>
              <a:t>Integration of real-time order data</a:t>
            </a:r>
          </a:p>
          <a:p>
            <a:r>
              <a:rPr lang="en-US" sz="2400" dirty="0"/>
              <a:t>Advanced customer segmentation analysis</a:t>
            </a:r>
          </a:p>
          <a:p>
            <a:r>
              <a:rPr lang="en-US" sz="2400" dirty="0"/>
              <a:t>Product recommendation systems</a:t>
            </a:r>
          </a:p>
          <a:p>
            <a:r>
              <a:rPr lang="en-US" sz="2400" dirty="0"/>
              <a:t>Sales forecasting using machine learning models</a:t>
            </a:r>
          </a:p>
          <a:p>
            <a:r>
              <a:rPr lang="en-US" sz="2400" dirty="0"/>
              <a:t>Integration with other business analytics platforms</a:t>
            </a:r>
          </a:p>
          <a:p>
            <a:r>
              <a:rPr lang="en-US" sz="2400" dirty="0"/>
              <a:t>Future enhancements can help Instamart improve </a:t>
            </a:r>
            <a:r>
              <a:rPr lang="en-US" sz="2400" b="1" dirty="0"/>
              <a:t>demand forecasting, customer targeting, and operational efficiency</a:t>
            </a:r>
            <a:r>
              <a:rPr lang="en-US" sz="2400" dirty="0"/>
              <a:t>.</a:t>
            </a: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04335"/>
            <a:ext cx="11247944" cy="4298750"/>
          </a:xfrm>
        </p:spPr>
        <p:txBody>
          <a:bodyPr vert="horz" lIns="91440" tIns="45720" rIns="91440" bIns="45720" rtlCol="0" anchor="t">
            <a:normAutofit/>
          </a:bodyPr>
          <a:lstStyle/>
          <a:p>
            <a:pPr marL="457200" indent="-457200">
              <a:buFont typeface="+mj-lt"/>
              <a:buAutoNum type="arabicPeriod"/>
            </a:pPr>
            <a:r>
              <a:rPr lang="en-IN" sz="2400" dirty="0"/>
              <a:t>Instacart Online Grocery Basket Analysis Dataset – Kaggle.</a:t>
            </a:r>
          </a:p>
          <a:p>
            <a:pPr marL="457200" indent="-457200">
              <a:buFont typeface="+mj-lt"/>
              <a:buAutoNum type="arabicPeriod"/>
            </a:pPr>
            <a:r>
              <a:rPr lang="en-IN" sz="2400" dirty="0"/>
              <a:t>Microsoft Power BI Documentation.</a:t>
            </a:r>
          </a:p>
          <a:p>
            <a:pPr marL="457200" indent="-457200">
              <a:buFont typeface="+mj-lt"/>
              <a:buAutoNum type="arabicPeriod"/>
            </a:pPr>
            <a:r>
              <a:rPr lang="en-US" sz="2400" dirty="0"/>
              <a:t>Data Visualization Best Practices – Microsoft Learn.</a:t>
            </a:r>
          </a:p>
          <a:p>
            <a:pPr marL="0" indent="0">
              <a:buNone/>
            </a:pPr>
            <a:r>
              <a:rPr lang="en-US" sz="2400" dirty="0">
                <a:latin typeface="Franklin Gothic Book"/>
              </a:rPr>
              <a:t>Drive Link: </a:t>
            </a:r>
            <a:r>
              <a:rPr lang="en-US" sz="2400" dirty="0">
                <a:solidFill>
                  <a:srgbClr val="0070C0"/>
                </a:solidFill>
                <a:latin typeface="Franklin Gothic Book"/>
                <a:hlinkClick r:id="rId2">
                  <a:extLst>
                    <a:ext uri="{A12FA001-AC4F-418D-AE19-62706E023703}">
                      <ahyp:hlinkClr xmlns:ahyp="http://schemas.microsoft.com/office/drawing/2018/hyperlinkcolor" val="tx"/>
                    </a:ext>
                  </a:extLst>
                </a:hlinkClick>
              </a:rPr>
              <a:t>https://drive.google.com/drive/folders/1qLn1iXit-ltkJVQMawddKArBo52GPKRF?usp=sharing</a:t>
            </a:r>
            <a:endParaRPr lang="en-IN" sz="2200" dirty="0">
              <a:solidFill>
                <a:srgbClr val="0070C0"/>
              </a:solidFill>
              <a:latin typeface="Franklin Gothic Book"/>
            </a:endParaRPr>
          </a:p>
          <a:p>
            <a:pPr marL="0" indent="0">
              <a:buNone/>
            </a:pPr>
            <a:r>
              <a:rPr lang="en-IN" sz="2200" dirty="0">
                <a:latin typeface="Franklin Gothic Book"/>
              </a:rPr>
              <a:t>GitHub Link:</a:t>
            </a:r>
            <a:r>
              <a:rPr lang="en-IN" sz="2200" dirty="0">
                <a:solidFill>
                  <a:srgbClr val="0070C0"/>
                </a:solidFill>
                <a:latin typeface="Franklin Gothic Book"/>
              </a:rPr>
              <a:t> </a:t>
            </a:r>
            <a:r>
              <a:rPr lang="en-IN" sz="2200" dirty="0">
                <a:solidFill>
                  <a:srgbClr val="0070C0"/>
                </a:solidFill>
                <a:latin typeface="Franklin Gothic Book"/>
                <a:hlinkClick r:id="rId3">
                  <a:extLst>
                    <a:ext uri="{A12FA001-AC4F-418D-AE19-62706E023703}">
                      <ahyp:hlinkClr xmlns:ahyp="http://schemas.microsoft.com/office/drawing/2018/hyperlinkcolor" val="tx"/>
                    </a:ext>
                  </a:extLst>
                </a:hlinkClick>
              </a:rPr>
              <a:t>https://github.com/Shivacharan16/Instamart-Sales-and-Customer-Behavior-Analysis-using-Power-BI</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dirty="0">
                <a:solidFill>
                  <a:srgbClr val="4A9DE2"/>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1019</Words>
  <Application>Microsoft Office PowerPoint</Application>
  <PresentationFormat>Widescreen</PresentationFormat>
  <Paragraphs>94</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 Page 1 — Sales and Order Overview</vt:lpstr>
      <vt:lpstr>Result: Page 2 — Product and Category Analysis</vt:lpstr>
      <vt:lpstr>Result: Page 3 — Customer Behavior and Reorder Analysis</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SHIVA CHARAN BIKKUMALLA</cp:lastModifiedBy>
  <cp:revision>104</cp:revision>
  <dcterms:created xsi:type="dcterms:W3CDTF">2024-05-21T11:55:07Z</dcterms:created>
  <dcterms:modified xsi:type="dcterms:W3CDTF">2026-03-13T16:46:23Z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